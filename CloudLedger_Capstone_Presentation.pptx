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</a:defRPr>
            </a:pPr>
            <a:r>
              <a:t>CloudLedger — FinOps &amp; Cloud Cost-Auditing SaaS</a:t>
            </a:r>
          </a:p>
          <a:p>
            <a:pPr>
              <a:spcBef>
                <a:spcPts val="1600"/>
              </a:spcBef>
              <a:defRPr sz="2200">
                <a:solidFill>
                  <a:srgbClr val="F8FAFC"/>
                </a:solidFill>
              </a:defRPr>
            </a:pPr>
            <a:r>
              <a:t>Session 21: End-to-End DevOps &amp; DevSecOps Final Capstone (100 Points)</a:t>
            </a:r>
          </a:p>
          <a:p>
            <a:pPr>
              <a:spcBef>
                <a:spcPts val="2800"/>
              </a:spcBef>
              <a:defRPr sz="1500">
                <a:solidFill>
                  <a:srgbClr val="4ADE80"/>
                </a:solidFill>
              </a:defRPr>
            </a:pPr>
            <a:r>
              <a:t>Presenter: Utkarsh Raj  |  Stack: React 18 • FastAPI • PostgreSQL • Docker • GitHub Actions • Trivy • Terraform • Kubernetes &amp; Helm • Prometheus &amp;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1. System Architecture &amp; FinOps Domain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Multi-Cloud Cost Auditing, Zombie Asset Detection &amp; Full-Stack DevOps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Problem Statement: Engineering teams lose 25–35% of monthly cloud spend to idle zombie instances and unattached storage.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CloudLedger Solution: Real-time multi-cloud (AWS, GCP, Azure) cost ledger calculating Total Monthly Burn, Identified Waste, and Optimization Health %.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Frontend: React 18 + Vite 5 served via hardened multi-stage Nginx 1.27 Alpine container.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Backend: Python 3.12 + FastAPI + SQLAlchemy 2 + Alembic migrations + Prometheus /metrics instrumentation.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Database: PostgreSQL 15 (production PVC) &amp; isolated in-memory SQLite for automated Pytest suites.</a:t>
            </a:r>
          </a:p>
        </p:txBody>
      </p:sp>
      <p:pic>
        <p:nvPicPr>
          <p:cNvPr id="4" name="Picture 3" descr="m1_browser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2. Module 1 (M1): Full-Stack Application &amp; REST API (10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FastAPI + SQLAlchemy + Alembic Migrations + React FinOps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Implemented 6 RESTful endpoints: GET/POST/PUT/DELETE /api/resources &amp; GET /api/resources/stats.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Dedicated Kubernetes Liveness (/health) and Database Readiness (/ready) endpoints.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Alembic migration (0001_create_cloud_resources.py) automatically provisions schema on container startup.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Auto-seeds 5 realistic multi-cloud resources across AWS, GCP, and Azure for instant FinOps auditing.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Interactive UI supports provider/status filtering, modal creation, and one-click optimization flagging.</a:t>
            </a:r>
          </a:p>
        </p:txBody>
      </p:sp>
      <p:pic>
        <p:nvPicPr>
          <p:cNvPr id="4" name="Picture 3" descr="m1_backend_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3. Module 2 (M2): Automated Pytest Suite &amp; Test Isolation (10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100% Deterministic API Testing Using In-Memory SQLite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6 comprehensive test suites in backend/tests/test_api.py covering all CRUD routes, FinOps KPI math, and /metrics.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Zero dependency on production PostgreSQL during unit/CI testing.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backend/conftest.py overrides FastAPI get_db dependency with sqlite:///:memory: and StaticPool.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Schema is freshly created before each test function and torn down immediately after.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Executes in &lt; 1.5 seconds locally and inside GitHub Actions CI.</a:t>
            </a:r>
          </a:p>
        </p:txBody>
      </p:sp>
      <p:pic>
        <p:nvPicPr>
          <p:cNvPr id="4" name="Picture 3" descr="m2_pytes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9583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4. Module 3 (M3): Git Hygiene &amp; Conventional Commits (5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Structured Version Control &amp; Secret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Public GitHub repository structured across frontend/, backend/, terraform/, helm/, k8s/, monitoring/, and deliverables/.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12+ descriptive Conventional Commits (feat, test, build, ci, infra, docs) documenting every architectural layer.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Strict root .gitignore blocks .env, __pycache__, .venv, node_modules, *.tfstate, and *.tfvars.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Zero hardcoded secrets or cloud credentials in Git history.</a:t>
            </a:r>
          </a:p>
        </p:txBody>
      </p:sp>
      <p:pic>
        <p:nvPicPr>
          <p:cNvPr id="4" name="Picture 3" descr="m3_github_commit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5. Module 4 (M4): Multi-Stage Docker &amp; Compose Hardening (10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Non-Root Container Execution &amp; Multi-Container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Backend Dockerfile (python:3.12-slim): Applies OS security updates, runs as non-root USER appuser, executes alembic upgrade head &amp;&amp; uvicorn.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Frontend Dockerfile: Stage 1 (node:20-alpine) builds Vite assets; Stage 2 (nginx:1.27-alpine) runs unprivileged on port 8080 as USER nginx.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Verified non-root execution via docker compose exec backend whoami (appuser) and frontend whoami (nginx).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docker-compose.yml orchestrates postgres, backend, and frontend with healthcheck dependency gates.</a:t>
            </a:r>
          </a:p>
        </p:txBody>
      </p:sp>
      <p:pic>
        <p:nvPicPr>
          <p:cNvPr id="4" name="Picture 3" descr="m4_docker_compose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17288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6. Module 5 (M5): GitHub Actions CI/CD &amp; GHCR Publishing (15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Automated Quality Gates &amp; Immutable Git SHA Image Tagging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Triggered automatically on push to main (.github/workflows/ci-cd.yml).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Job 1 (test-and-build-check): Runs all 6 Pytest integration tests and compiles the production React/Vite bundle.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Job 2 (docker-trivy-and-publish): Gated by Job 1; builds backend and frontend Docker images.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Publishes images to GitHub Container Registry (ghcr.io/dean-2/cloudledger-*) tagged strictly with immutable ${{ github.sha }}.</a:t>
            </a:r>
          </a:p>
        </p:txBody>
      </p:sp>
      <p:pic>
        <p:nvPicPr>
          <p:cNvPr id="4" name="Picture 3" descr="m5_github_actions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2139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7. Module 6 (M6): DevSecOps — Aqua Trivy Security Gate (5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Zero-Vulnerability Container Enforcement in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Integrated aquasecurity/trivy-action@0.28.0 directly into the GitHub Actions pipeline before image push.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Configured with severity: CRITICAL,HIGH, ignore-unfixed: true, and exit-code: 1 to break the build on fixable CVEs.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Proactively remediated OS and Python packaging CVEs via apt-get upgrade -y, apk upgrade --no-cache, and python:3.12-slim.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Both backend and frontend images pass the CI security gate with 0 HIGH and 0 CRITICAL vulnerabilities.</a:t>
            </a:r>
          </a:p>
        </p:txBody>
      </p:sp>
      <p:pic>
        <p:nvPicPr>
          <p:cNvPr id="4" name="Picture 3" descr="m6_trivy_scan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8. Module 7 (M7): Terraform AWS Infrastructure as Code (15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Production VPC &amp; Managed EKS Architecture in Mumbai (ap-south-1)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Declarative HCL across versions.tf, variables.tf, vpc.tf, eks.tf, outputs.tf, and terraform.tfvars.example.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Provisions custom 10.20.0.0/16 VPC across ap-south-1a &amp; ap-south-1b with 2 Public Subnets, 2 Private Subnets, IGW, and NAT Gateway.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Defines Amazon EKS 1.30 control plane and managed node group (t3.medium worker nodes) in private subnets.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Fully validated locally via terraform init, terraform fmt -check, and terraform validate (with SCP environment notice documented).</a:t>
            </a:r>
          </a:p>
        </p:txBody>
      </p:sp>
      <p:pic>
        <p:nvPicPr>
          <p:cNvPr id="4" name="Picture 3" descr="m7_terraform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3478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9. Module 8 (M8): Kubernetes &amp; Helm Orchestration (15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High-Availability 3-Tier Deployment in cloudledger Namespace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Custom Helm chart (helm/cloudledger) templating Deployments, ClusterIP Services, Ingress, HPA, ConfigMap, Secret, and Postgres PVC.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Deployed with 2x cloudledger-backend replicas, 2x cloudledger-frontend replicas, and 1x cloudledger-postgres stateful pod (all 1/1 Running).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NGINX Ingress routes / to frontend:80 and /api to backend:8000.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Liveness (/health) and Readiness (/ready) probes ensure zero-downtime rolling updates.</a:t>
            </a:r>
          </a:p>
        </p:txBody>
      </p:sp>
      <p:pic>
        <p:nvPicPr>
          <p:cNvPr id="4" name="Picture 3" descr="m8_k8s_pods_s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1694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10. Module 9 (M9): Observability — Prometheus &amp; Grafana (10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Real-Time RED Metrics (Rate, Errors, Duration) &amp; ServiceMonitor Scraping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FastAPI instrumented via prometheus-fastapi-instrumentator exposing counters and latency histograms at GET /metrics.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Deployed kube-prometheus-stack via Helm into the monitoring namespace.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Custom ServiceMonitor (cloudledger-backend-monitor) scrapes both backend pods every 15s (Target State: UP 2/2).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Live Grafana dashboard visualizes sum by (handler, status) (rate(http_requests_total[1m])).</a:t>
            </a:r>
          </a:p>
        </p:txBody>
      </p:sp>
      <p:pic>
        <p:nvPicPr>
          <p:cNvPr id="4" name="Picture 3" descr="m9_grafan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11. Module 10 (M10): HPA Autoscaling &amp; Live K8s Troubleshooting (5 Pts)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Dynamic CPU Scaling &amp; Real-Time Remediation of Broken 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HorizontalPodAutoscaler scales cloudledger-backend from 2 to 5 replicas at 70% CPU utilization target.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Scenario 1 (broken-image.yaml): Diagnosed ImagePullBackOff on non-existent tag and remediated live via kubectl set image.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Scenario 2 (broken-service.yaml): Diagnosed 0 endpoints (&lt;none&gt;) caused by selector typo and patched live via kubectl patch svc.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All 10 deliverables (M1.md–M10.md) and 18 verification screenshots completed.</a:t>
            </a:r>
          </a:p>
        </p:txBody>
      </p:sp>
      <p:pic>
        <p:nvPicPr>
          <p:cNvPr id="4" name="Picture 3" descr="m10_hpa_and_trouble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18407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